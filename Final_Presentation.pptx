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1A365D"/>
                </a:solidFill>
              </a:defRPr>
            </a:pPr>
            <a:r>
              <a:t>Impact of Fuel Prices &amp; Holidays on Flights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4A5568"/>
                </a:solidFill>
              </a:defRPr>
            </a:pPr>
            <a:r>
              <a:t>DSA 210 Term Project</a:t>
            </a:r>
          </a:p>
          <a:p>
            <a:pPr>
              <a:defRPr i="1"/>
            </a:pPr>
            <a:r>
              <a:t>Emre Pamukçu - 22596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The Core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Flight pricing seems random. What drives it?</a:t>
            </a:r>
          </a:p>
          <a:p>
            <a:pPr lvl="1"/>
            <a:r>
              <a:t>Are prices heavily influenced by external macro-factors?</a:t>
            </a:r>
          </a:p>
          <a:p>
            <a:pPr lvl="2">
              <a:defRPr b="1"/>
            </a:pPr>
            <a:r>
              <a:t>Hypothesis 1: Higher global oil prices = more expensive tickets.</a:t>
            </a:r>
          </a:p>
          <a:p>
            <a:pPr lvl="2">
              <a:defRPr b="1"/>
            </a:pPr>
            <a:r>
              <a:t>Hypothesis 2: National holidays = massive demand surges = expensive tickets.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Data &amp;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datasets merged for analysis:</a:t>
            </a:r>
          </a:p>
          <a:p>
            <a:pPr lvl="1"/>
            <a:r>
              <a:t>1. Base Data: Kaggle (300k+ flight records in India)</a:t>
            </a:r>
          </a:p>
          <a:p>
            <a:pPr lvl="1"/>
            <a:r>
              <a:t>2. Enrichment 1: WTI Crude Oil Prices (Investing.com)</a:t>
            </a:r>
          </a:p>
          <a:p>
            <a:pPr lvl="1"/>
            <a:r>
              <a:t>3. Enrichment 2: Worldwide Holiday Database (National subset)</a:t>
            </a:r>
          </a:p>
          <a:p>
            <a:pPr>
              <a:defRPr b="1"/>
            </a:pPr>
            <a:r>
              <a:t>Target Variable: Ticket Price (INR)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The Baseline: Price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1A365D"/>
                </a:solidFill>
              </a:defRPr>
            </a:pPr>
            <a:r>
              <a:t>A Heavily Skewed Market.</a:t>
            </a:r>
          </a:p>
          <a:p>
            <a:br/>
            <a:pPr>
              <a:defRPr sz="1800"/>
            </a:pPr>
            <a:r>
              <a:t>• Most flight tickets are clustered at the lower end (Economy).</a:t>
            </a:r>
          </a:p>
          <a:p>
            <a:br/>
            <a:pPr>
              <a:defRPr sz="1800"/>
            </a:pPr>
            <a:r>
              <a:t>• The long tail represents premium and last-minute tickets.</a:t>
            </a:r>
          </a:p>
        </p:txBody>
      </p:sp>
      <p:pic>
        <p:nvPicPr>
          <p:cNvPr id="4" name="Picture 3" descr="Fligh_Price_Distrub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22651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The Internal Factor: Cabin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1A365D"/>
                </a:solidFill>
              </a:defRPr>
            </a:pPr>
            <a:r>
              <a:t>The Great Divide.</a:t>
            </a:r>
          </a:p>
          <a:p>
            <a:br/>
            <a:pPr>
              <a:defRPr sz="1800"/>
            </a:pPr>
            <a:r>
              <a:t>• Business Class tickets are exponentially more expensive than Economy.</a:t>
            </a:r>
          </a:p>
          <a:p>
            <a:br/>
            <a:pPr>
              <a:defRPr sz="1800"/>
            </a:pPr>
            <a:r>
              <a:t>• Vistara and Air India dominate the premium market.</a:t>
            </a:r>
          </a:p>
        </p:txBody>
      </p:sp>
      <p:pic>
        <p:nvPicPr>
          <p:cNvPr id="4" name="Picture 3" descr="Flight_Prices_Across_Airlines_Segments_(Economy vs Business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306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Surprise 1: The Oil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C53030"/>
                </a:solidFill>
              </a:defRPr>
            </a:pPr>
            <a:r>
              <a:t>Hypothesis: Wrong.</a:t>
            </a:r>
          </a:p>
          <a:p>
            <a:br/>
            <a:pPr>
              <a:defRPr sz="1800"/>
            </a:pPr>
            <a:r>
              <a:t>• Pearson r = -0.65</a:t>
            </a:r>
            <a:br/>
            <a:r>
              <a:t>• Prices fell as oil rose.</a:t>
            </a:r>
            <a:br/>
            <a:r>
              <a:t>• Reason: Airlines hedge fuel. Spot prices don't immediately hit ticket counters.</a:t>
            </a:r>
          </a:p>
        </p:txBody>
      </p:sp>
      <p:pic>
        <p:nvPicPr>
          <p:cNvPr id="4" name="Picture 3" descr="Daily_Average_WTI_Oil_Price_vs_Daily_Average_Flight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029200" cy="33010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Surprise 2: Cheaper Holidays?!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C53030"/>
                </a:solidFill>
              </a:defRPr>
            </a:pPr>
            <a:r>
              <a:t>Hypothesis: Wrong.</a:t>
            </a:r>
          </a:p>
          <a:p>
            <a:br/>
            <a:pPr>
              <a:defRPr sz="1800"/>
            </a:pPr>
            <a:r>
              <a:t>• Holiday Mean: 19,506 INR</a:t>
            </a:r>
            <a:br/>
            <a:r>
              <a:t>• Normal Mean: 20,946 INR</a:t>
            </a:r>
            <a:br/>
            <a:r>
              <a:t>• Statistically significant (p-value near 0).</a:t>
            </a:r>
          </a:p>
          <a:p>
            <a:br/>
            <a:pPr>
              <a:defRPr sz="1800"/>
            </a:pPr>
            <a:r>
              <a:t>Theory: Drop in expensive corporate travel outweighs leisure surges.</a:t>
            </a:r>
          </a:p>
        </p:txBody>
      </p:sp>
      <p:pic>
        <p:nvPicPr>
          <p:cNvPr id="4" name="Picture 3" descr="Flight_Prices_Holiday_vs_Non-Holi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029200" cy="35009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an algorithm figure this out?</a:t>
            </a:r>
          </a:p>
          <a:p>
            <a:pPr lvl="1">
              <a:defRPr b="1"/>
            </a:pPr>
            <a:r>
              <a:t>Baseline: Linear Regression</a:t>
            </a:r>
          </a:p>
          <a:p>
            <a:pPr lvl="2"/>
            <a:r>
              <a:t>R-squared: 0.90 | RMSE: 6,995 INR</a:t>
            </a:r>
          </a:p>
          <a:p>
            <a:pPr lvl="1">
              <a:defRPr b="1"/>
            </a:pPr>
            <a:r>
              <a:t>Heavyweight: Random Forest Regressor</a:t>
            </a:r>
          </a:p>
          <a:p>
            <a:pPr lvl="2"/>
            <a:r>
              <a:t>Tuned via GridSearchCV (n_estimators=100, max_depth=15)</a:t>
            </a:r>
          </a:p>
          <a:p>
            <a:pPr lvl="2">
              <a:defRPr b="1">
                <a:solidFill>
                  <a:srgbClr val="2F855A"/>
                </a:solidFill>
              </a:defRPr>
            </a:pPr>
            <a:r>
              <a:t>R-squared: 0.95 | RMSE: 5,110 INR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Baseline Model: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1A365D"/>
                </a:solidFill>
              </a:defRPr>
            </a:pPr>
            <a:r>
              <a:t>Good, but not great.</a:t>
            </a:r>
          </a:p>
          <a:p>
            <a:br/>
            <a:pPr>
              <a:defRPr sz="1800"/>
            </a:pPr>
            <a:r>
              <a:t>• While it tracks the general trend, you can see it struggles with higher-priced tickets.</a:t>
            </a:r>
          </a:p>
          <a:p>
            <a:br/>
            <a:pPr>
              <a:defRPr sz="1800"/>
            </a:pPr>
            <a:r>
              <a:t>• A straight line cannot perfectly capture airline pricing tiers.</a:t>
            </a:r>
          </a:p>
        </p:txBody>
      </p:sp>
      <p:pic>
        <p:nvPicPr>
          <p:cNvPr id="4" name="Picture 3" descr="Linear_Regression_Actual_vs_Predicted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28804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Random Forest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F855A"/>
                </a:solidFill>
              </a:defRPr>
            </a:pPr>
            <a:r>
              <a:t>The Clear Winner.</a:t>
            </a:r>
          </a:p>
          <a:p>
            <a:br/>
            <a:pPr>
              <a:defRPr sz="1800"/>
            </a:pPr>
            <a:r>
              <a:t>• Much tighter clustering around the prediction line.</a:t>
            </a:r>
          </a:p>
          <a:p>
            <a:br/>
            <a:pPr>
              <a:defRPr sz="1800"/>
            </a:pPr>
            <a:r>
              <a:t>• Successfully captures the non-linear jumps between Economy and Business class prices.</a:t>
            </a:r>
          </a:p>
        </p:txBody>
      </p:sp>
      <p:pic>
        <p:nvPicPr>
          <p:cNvPr id="4" name="Picture 3" descr="Random_Forest_Regression_Actual_vs_Predicted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28804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The Final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1A365D"/>
                </a:solidFill>
              </a:defRPr>
            </a:pPr>
            <a:r>
              <a:t>Internal Factors Dominate.</a:t>
            </a:r>
          </a:p>
          <a:p>
            <a:br/>
            <a:pPr>
              <a:defRPr sz="1800"/>
            </a:pPr>
            <a:r>
              <a:t>• Cabin Class and Flight Duration dictate the price.</a:t>
            </a:r>
          </a:p>
          <a:p>
            <a:br/>
            <a:pPr>
              <a:defRPr sz="1800"/>
            </a:pPr>
            <a:r>
              <a:t>• External macro-factors (Oil, Holidays) have minimal predictive power.</a:t>
            </a:r>
          </a:p>
        </p:txBody>
      </p:sp>
      <p:pic>
        <p:nvPicPr>
          <p:cNvPr id="4" name="Picture 3" descr="Top_10_Most_Important_Features_for_Predicting_Flight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029200" cy="28273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1A365D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It's fun to blame global oil markets and holiday rushes for expensive tickets.</a:t>
            </a:r>
          </a:p>
          <a:p>
            <a:pPr lvl="1">
              <a:defRPr b="1"/>
            </a:pPr>
            <a:r>
              <a:t>However, airlines price tickets strictly based on internal logistics (your seat and distance flown).</a:t>
            </a:r>
          </a:p>
          <a:p>
            <a:pPr>
              <a:defRPr b="1">
                <a:solidFill>
                  <a:srgbClr val="C53030"/>
                </a:solidFill>
              </a:defRPr>
            </a:pPr>
            <a:r>
              <a:t>Hypotheses = Disproven.</a:t>
            </a:r>
          </a:p>
          <a:p>
            <a:pPr>
              <a:defRPr b="1">
                <a:solidFill>
                  <a:srgbClr val="2F855A"/>
                </a:solidFill>
              </a:defRPr>
            </a:pPr>
            <a:r>
              <a:t>Model = Highly Accurate (0.95 R²).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